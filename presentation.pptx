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Оқушылар саны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ru-KZ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Таныс</c:v>
                </c:pt>
                <c:pt idx="1">
                  <c:v>Кейбір шығармаларын оқыған</c:v>
                </c:pt>
                <c:pt idx="2">
                  <c:v>Таныс емес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3D-4866-9EE6-130369DBD05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1000">
              <a:latin typeface="Aptos"/>
            </a:defRPr>
          </a:pPr>
          <a:endParaRPr lang="ru-KZ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ru-KZ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66928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CDA04A"/>
                </a:solidFill>
                <a:latin typeface="Aptos"/>
              </a:rPr>
              <a:t>ҒЫЛЫМИ ЖОБА  •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716670" cy="152349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100" b="1" dirty="0" err="1">
                <a:solidFill>
                  <a:srgbClr val="FFFFFF"/>
                </a:solidFill>
                <a:latin typeface="Aptos"/>
              </a:rPr>
              <a:t>Мағжан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Жұмабаев</a:t>
            </a:r>
            <a:r>
              <a:rPr lang="ru-RU" sz="3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шығармаларындағы</a:t>
            </a:r>
            <a:r>
              <a:rPr lang="ru-RU" sz="3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жастар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тәрбиесі</a:t>
            </a:r>
            <a:r>
              <a:rPr sz="3100" b="1" dirty="0">
                <a:solidFill>
                  <a:srgbClr val="FFFFFF"/>
                </a:solidFill>
                <a:latin typeface="Aptos"/>
              </a:rPr>
              <a:t> </a:t>
            </a:r>
            <a:r>
              <a:rPr sz="3100" b="1" dirty="0" err="1">
                <a:solidFill>
                  <a:srgbClr val="FFFFFF"/>
                </a:solidFill>
                <a:latin typeface="Aptos"/>
              </a:rPr>
              <a:t>мәселесі</a:t>
            </a:r>
            <a:r>
              <a:rPr lang="kk-KZ" sz="3100" b="1" dirty="0">
                <a:solidFill>
                  <a:srgbClr val="FFFFFF"/>
                </a:solidFill>
                <a:latin typeface="Aptos"/>
              </a:rPr>
              <a:t>: «Адал азамат» бағдарламасының құндылықтарымен сабақтастығы</a:t>
            </a:r>
            <a:endParaRPr sz="31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005840" cy="54864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5303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Aptos"/>
              </a:rPr>
              <a:t>Орындаған: Миникеева Наргиз
№17 мектеп, 11 «Б» сынып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6172200"/>
            <a:ext cx="4297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000" b="1">
                <a:solidFill>
                  <a:srgbClr val="BECCDA"/>
                </a:solidFill>
                <a:latin typeface="Aptos"/>
              </a:rPr>
              <a:t>ЗЕРТТЕУ  •  ҚҰНДЫЛЫҚ  •  ЖАС ҰРПАҚ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Зерттеудің өзектілігі мен мақсаты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14400" cy="50292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600200"/>
            <a:ext cx="1417320" cy="347472"/>
          </a:xfrm>
          <a:prstGeom prst="round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ӨЗЕКТІЛІГІ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4805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300" b="1">
                <a:solidFill>
                  <a:srgbClr val="122A4A"/>
                </a:solidFill>
                <a:latin typeface="Aptos"/>
              </a:rPr>
              <a:t>Қазіргі қоғамға қандай жас ұрпақ қажет?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017520"/>
            <a:ext cx="4480560" cy="192024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Білімді және ізденімпаз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Адал әрі жауапты</a:t>
            </a:r>
          </a:p>
          <a:p>
            <a:pPr>
              <a:spcAft>
                <a:spcPts val="10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Еңбекқор және отансүйгіш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E7EDF3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92240" y="1600200"/>
            <a:ext cx="2148840" cy="347472"/>
          </a:xfrm>
          <a:prstGeom prst="roundRect">
            <a:avLst/>
          </a:prstGeom>
          <a:solidFill>
            <a:srgbClr val="49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ЗЕРТТЕУ МАҚСАТЫ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434840" cy="1965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22A4A"/>
                </a:solidFill>
                <a:latin typeface="Aptos"/>
              </a:rPr>
              <a:t>Мағжан шығармаларындағы жастар тәрбиесіне қатысты идеяларды анықтау және оларды «Адал азамат» бағдарламасының құндылықтарымен салыстыру.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800600"/>
            <a:ext cx="4389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5707C"/>
                </a:solidFill>
                <a:latin typeface="Aptos"/>
              </a:rPr>
              <a:t>Зерттеу нысаны: ақын шығармалары мен педагогикалық көзқарастары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303520"/>
            <a:ext cx="4389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5707C"/>
                </a:solidFill>
                <a:latin typeface="Aptos"/>
              </a:rPr>
              <a:t>Зерттеу бағыты: әдеби талдау + сауалнама + цифрлық өнім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Мағжан шығармаларындағы жастар тәрбиесі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14400" cy="50292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78408" y="1664208"/>
            <a:ext cx="438912" cy="438912"/>
          </a:xfrm>
          <a:prstGeom prst="ellipse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7190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1627632"/>
            <a:ext cx="24231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22A4A"/>
                </a:solidFill>
                <a:latin typeface="Aptos"/>
              </a:rPr>
              <a:t>«Мен жастарға сенемін!»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29260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8303A"/>
                </a:solidFill>
                <a:latin typeface="Aptos"/>
              </a:rPr>
              <a:t>Батылдық • қайсарлық • білім • ел алдындағы жауапкершілік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73168" y="1664208"/>
            <a:ext cx="438912" cy="438912"/>
          </a:xfrm>
          <a:prstGeom prst="ellipse">
            <a:avLst/>
          </a:prstGeom>
          <a:solidFill>
            <a:srgbClr val="49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7190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1627632"/>
            <a:ext cx="24231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22A4A"/>
                </a:solidFill>
                <a:latin typeface="Aptos"/>
              </a:rPr>
              <a:t>«Қазақ тілі»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31720"/>
            <a:ext cx="29260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8303A"/>
                </a:solidFill>
                <a:latin typeface="Aptos"/>
              </a:rPr>
              <a:t>Ана тілін құрметтеу • ұлттық рухты сақтау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67928" y="1664208"/>
            <a:ext cx="438912" cy="438912"/>
          </a:xfrm>
          <a:prstGeom prst="ellipse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1719072"/>
            <a:ext cx="4389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1627632"/>
            <a:ext cx="24231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22A4A"/>
                </a:solidFill>
                <a:latin typeface="Aptos"/>
              </a:rPr>
              <a:t>«Түркістан»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331720"/>
            <a:ext cx="29260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28303A"/>
                </a:solidFill>
                <a:latin typeface="Aptos"/>
              </a:rPr>
              <a:t>Туған жерге құрмет • тарихи мұраны бағалау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98755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22A4A"/>
                </a:solidFill>
                <a:latin typeface="Aptos"/>
              </a:rPr>
              <a:t>Зерттеу барысында анықталған негізгі тәрбиелік құндылықтар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480560"/>
            <a:ext cx="2487168" cy="502920"/>
          </a:xfrm>
          <a:prstGeom prst="roundRect">
            <a:avLst/>
          </a:prstGeom>
          <a:solidFill>
            <a:srgbClr val="F4E8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Білімге ұмтылу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79" y="4480560"/>
            <a:ext cx="2487168" cy="502920"/>
          </a:xfrm>
          <a:prstGeom prst="roundRect">
            <a:avLst/>
          </a:prstGeom>
          <a:solidFill>
            <a:srgbClr val="E7ED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85031" y="4590288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Еңбекқорлық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480560"/>
            <a:ext cx="2487168" cy="502920"/>
          </a:xfrm>
          <a:prstGeom prst="roundRect">
            <a:avLst/>
          </a:prstGeom>
          <a:solidFill>
            <a:srgbClr val="F4E8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4590288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Адалдық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4480560"/>
            <a:ext cx="2487168" cy="502920"/>
          </a:xfrm>
          <a:prstGeom prst="roundRect">
            <a:avLst/>
          </a:prstGeom>
          <a:solidFill>
            <a:srgbClr val="E7ED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62872" y="4590288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Адамгершілік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193792"/>
            <a:ext cx="2487168" cy="502920"/>
          </a:xfrm>
          <a:prstGeom prst="roundRect">
            <a:avLst/>
          </a:prstGeom>
          <a:solidFill>
            <a:srgbClr val="F4E8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5303520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Жауапкершілік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11879" y="5193792"/>
            <a:ext cx="2487168" cy="502920"/>
          </a:xfrm>
          <a:prstGeom prst="roundRect">
            <a:avLst/>
          </a:prstGeom>
          <a:solidFill>
            <a:srgbClr val="E7EDF3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85031" y="5303520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Отансүйгіштік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193792"/>
            <a:ext cx="2487168" cy="502920"/>
          </a:xfrm>
          <a:prstGeom prst="roundRect">
            <a:avLst/>
          </a:prstGeom>
          <a:solidFill>
            <a:srgbClr val="F4E8C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5303520"/>
            <a:ext cx="23317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Ұлттық құндылықтар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«Адал азамат» құндылықтарымен сабақтастығы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14400" cy="50292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337560" cy="530352"/>
          </a:xfrm>
          <a:prstGeom prst="rect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Мағжан шығармаларындағы идея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325880"/>
            <a:ext cx="3337560" cy="530352"/>
          </a:xfrm>
          <a:prstGeom prst="rect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Қазіргі құндылық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1325880"/>
            <a:ext cx="4069080" cy="530352"/>
          </a:xfrm>
          <a:prstGeom prst="rect">
            <a:avLst/>
          </a:prstGeom>
          <a:solidFill>
            <a:srgbClr val="122A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Сабақтастығы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856231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Білімге ұмтылу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856231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Білім мен ізденіс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1856231"/>
            <a:ext cx="40690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Үнемі білім алу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459736"/>
            <a:ext cx="333756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Елге қызмет ету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459736"/>
            <a:ext cx="333756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Отаншылдық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2459736"/>
            <a:ext cx="406908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Елге және қоғамға пайдалы болу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39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Адалдық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3063239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Адал азамат болу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3063239"/>
            <a:ext cx="40690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Шынайылық пен әділдікті сақтау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66744"/>
            <a:ext cx="333756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Еңбек ету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666744"/>
            <a:ext cx="333756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Еңбекқорлық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666744"/>
            <a:ext cx="406908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Еңбек арқылы нәтижеге жету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270248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Адамды құрметтеу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270248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Адамгершілік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4270248"/>
            <a:ext cx="40690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Өзгені сыйлау, ізгілік таныту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73752"/>
            <a:ext cx="333756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Жауапкершілік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4873752"/>
            <a:ext cx="333756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Азаматтық жауапкершілік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4873752"/>
            <a:ext cx="4069080" cy="603504"/>
          </a:xfrm>
          <a:prstGeom prst="rect">
            <a:avLst/>
          </a:prstGeom>
          <a:solidFill>
            <a:srgbClr val="E7EDF3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Өз ісіне жауап беру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477256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1">
                <a:solidFill>
                  <a:srgbClr val="122A4A"/>
                </a:solidFill>
                <a:latin typeface="Aptos"/>
              </a:rPr>
              <a:t>Ұлттық рух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5477256"/>
            <a:ext cx="333756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Ұлттық құндылықтар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5477256"/>
            <a:ext cx="4069080" cy="603504"/>
          </a:xfrm>
          <a:prstGeom prst="rect">
            <a:avLst/>
          </a:prstGeom>
          <a:solidFill>
            <a:srgbClr val="FFFFFF"/>
          </a:solidFill>
          <a:ln>
            <a:solidFill>
              <a:srgbClr val="D7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200" b="0">
                <a:solidFill>
                  <a:srgbClr val="28303A"/>
                </a:solidFill>
                <a:latin typeface="Aptos"/>
              </a:rPr>
              <a:t>Тіл, тарих, мәдениетті бағалау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Сауалнама нәтижелері: 8–11 сынып, 50 оқушы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14400" cy="50292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22A4A"/>
                </a:solidFill>
                <a:latin typeface="Aptos"/>
              </a:rPr>
              <a:t>Мағжан шығармашылығымен таныстығы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51560" y="1965960"/>
          <a:ext cx="443484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63640" y="128016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08760"/>
            <a:ext cx="44805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22A4A"/>
                </a:solidFill>
                <a:latin typeface="Aptos"/>
              </a:rPr>
              <a:t>Негізгі көрсеткіштер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160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8303A"/>
                </a:solidFill>
                <a:latin typeface="Aptos"/>
              </a:rPr>
              <a:t>«Мен жастарға сенемін!» өлеңін оқыған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587752"/>
            <a:ext cx="4069080" cy="201168"/>
          </a:xfrm>
          <a:prstGeom prst="roundRect">
            <a:avLst/>
          </a:prstGeom>
          <a:solidFill>
            <a:srgbClr val="E7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37960" y="2587752"/>
            <a:ext cx="3906316" cy="201168"/>
          </a:xfrm>
          <a:prstGeom prst="roundRect">
            <a:avLst/>
          </a:prstGeom>
          <a:solidFill>
            <a:srgbClr val="23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0" y="2468880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48/50  •  96%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172968"/>
            <a:ext cx="4160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8303A"/>
                </a:solidFill>
                <a:latin typeface="Aptos"/>
              </a:rPr>
              <a:t>Адалдықты маңызды құндылық деп бағалаған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611880"/>
            <a:ext cx="4069080" cy="201168"/>
          </a:xfrm>
          <a:prstGeom prst="roundRect">
            <a:avLst/>
          </a:prstGeom>
          <a:solidFill>
            <a:srgbClr val="E7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537960" y="3611880"/>
            <a:ext cx="4069080" cy="201168"/>
          </a:xfrm>
          <a:prstGeom prst="roundRect">
            <a:avLst/>
          </a:prstGeom>
          <a:solidFill>
            <a:srgbClr val="49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0" y="3493008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50/50  •  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197096"/>
            <a:ext cx="4160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8303A"/>
                </a:solidFill>
                <a:latin typeface="Aptos"/>
              </a:rPr>
              <a:t>Шығармаларды тәрбие жұмысында қолдануды қолдаған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636008"/>
            <a:ext cx="4069080" cy="201168"/>
          </a:xfrm>
          <a:prstGeom prst="roundRect">
            <a:avLst/>
          </a:prstGeom>
          <a:solidFill>
            <a:srgbClr val="E7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537960" y="4636008"/>
            <a:ext cx="4069080" cy="201168"/>
          </a:xfrm>
          <a:prstGeom prst="round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0" y="4517136"/>
            <a:ext cx="914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1200" b="1">
                <a:solidFill>
                  <a:srgbClr val="122A4A"/>
                </a:solidFill>
                <a:latin typeface="Aptos"/>
              </a:rPr>
              <a:t>50/50  • 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989320"/>
            <a:ext cx="104241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22A4A"/>
                </a:solidFill>
                <a:latin typeface="Aptos"/>
              </a:rPr>
              <a:t>Қорытынды: сауалнамаға қатысқандар Мағжан мұрасының бүгінгі тәрбие үшін маңызын қолдады.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700" b="1">
                <a:solidFill>
                  <a:srgbClr val="122A4A"/>
                </a:solidFill>
                <a:latin typeface="Aptos"/>
              </a:rPr>
              <a:t>Практикалық өнім — MAGzhan сайты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969264"/>
            <a:ext cx="914400" cy="50292"/>
          </a:xfrm>
          <a:prstGeom prst="rect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8521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D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5852160" cy="45720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27048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Aptos"/>
              </a:rPr>
              <a:t>MAGzhan</a:t>
            </a:r>
          </a:p>
        </p:txBody>
      </p:sp>
      <p:sp>
        <p:nvSpPr>
          <p:cNvPr id="8" name="Oval 7"/>
          <p:cNvSpPr/>
          <p:nvPr/>
        </p:nvSpPr>
        <p:spPr>
          <a:xfrm>
            <a:off x="5989320" y="1572768"/>
            <a:ext cx="82296" cy="82296"/>
          </a:xfrm>
          <a:prstGeom prst="ellipse">
            <a:avLst/>
          </a:prstGeom>
          <a:solidFill>
            <a:srgbClr val="A55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153912" y="1572768"/>
            <a:ext cx="82296" cy="82296"/>
          </a:xfrm>
          <a:prstGeom prst="ellipse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318504" y="1572768"/>
            <a:ext cx="82296" cy="82296"/>
          </a:xfrm>
          <a:prstGeom prst="ellipse">
            <a:avLst/>
          </a:prstGeom>
          <a:solidFill>
            <a:srgbClr val="4989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5029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22A4A"/>
                </a:solidFill>
                <a:latin typeface="Aptos"/>
              </a:rPr>
              <a:t>Мағжан мұрасы — ұрпаққа аманат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224028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5B91"/>
                </a:solidFill>
                <a:latin typeface="Aptos"/>
              </a:rPr>
              <a:t>Өмірі мен шығармашылығы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80360"/>
            <a:ext cx="21488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98987"/>
                </a:solidFill>
                <a:latin typeface="Aptos"/>
              </a:rPr>
              <a:t>Жастар тәрбиесі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24231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498987"/>
                </a:solidFill>
                <a:latin typeface="Aptos"/>
              </a:rPr>
              <a:t>«Адал азамат» құндылықтары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794760"/>
            <a:ext cx="23774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5B91"/>
                </a:solidFill>
                <a:latin typeface="Aptos"/>
              </a:rPr>
              <a:t>Сауалнама және қорытынды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617720"/>
            <a:ext cx="1234440" cy="685800"/>
          </a:xfrm>
          <a:prstGeom prst="rect">
            <a:avLst/>
          </a:prstGeom>
          <a:solidFill>
            <a:srgbClr val="F4E8CC"/>
          </a:solidFill>
          <a:ln>
            <a:solidFill>
              <a:srgbClr val="CDA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4818888"/>
            <a:ext cx="10515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МҰРА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417320"/>
            <a:ext cx="4297680" cy="4343400"/>
          </a:xfrm>
          <a:prstGeom prst="roundRect">
            <a:avLst/>
          </a:prstGeom>
          <a:solidFill>
            <a:srgbClr val="E7EDF3"/>
          </a:solidFill>
          <a:ln>
            <a:solidFill>
              <a:srgbClr val="E7ED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06640" y="1737360"/>
            <a:ext cx="35661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>
                <a:solidFill>
                  <a:srgbClr val="122A4A"/>
                </a:solidFill>
                <a:latin typeface="Aptos"/>
              </a:rPr>
              <a:t>Сайт бөлімдері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423160"/>
            <a:ext cx="3566160" cy="26517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Мағжан Жұмабаевтың өмірі мен шығармашылығы</a:t>
            </a:r>
          </a:p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Жастар тәрбиесіне қатысты идеялары</a:t>
            </a:r>
          </a:p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«Адал азамат» құндылықтарымен байланысы</a:t>
            </a:r>
          </a:p>
          <a:p>
            <a:pPr>
              <a:spcAft>
                <a:spcPts val="10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Сауалнама нәтижелері мен зерттеу қорытындысы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074920"/>
            <a:ext cx="356616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35B91"/>
                </a:solidFill>
                <a:latin typeface="Aptos"/>
              </a:rPr>
              <a:t>Мақсаты: зерттеу нәтижелерін оқушыларға түсінікті әрі заманауи цифрлық форматта ұсыну.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502920"/>
            <a:ext cx="4572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CDA04A"/>
                </a:solidFill>
                <a:latin typeface="Aptos"/>
              </a:rPr>
              <a:t>ҚОРЫТЫНДЫ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98755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>
                <a:solidFill>
                  <a:srgbClr val="FFFFFF"/>
                </a:solidFill>
                <a:latin typeface="Aptos"/>
              </a:rPr>
              <a:t>Мағжан мұрасы — бүгінгі ұрпақ тәрбиесіне бағыт-бағдар.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2423160"/>
            <a:ext cx="384048" cy="384048"/>
          </a:xfrm>
          <a:prstGeom prst="ellipse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478024"/>
            <a:ext cx="3840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04872"/>
            <a:ext cx="93268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Ақынның білім, еңбек, адалдық және отансүйгіштік идеялары бүгін де өзекті.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291839"/>
            <a:ext cx="384048" cy="384048"/>
          </a:xfrm>
          <a:prstGeom prst="ellipse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346703"/>
            <a:ext cx="3840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273551"/>
            <a:ext cx="93268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Мағжан шығармаларындағы идеялар «Адал азамат» құндылықтарымен мазмұндық жағынан сабақтас.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160520"/>
            <a:ext cx="384048" cy="384048"/>
          </a:xfrm>
          <a:prstGeom prst="ellipse">
            <a:avLst/>
          </a:prstGeom>
          <a:solidFill>
            <a:srgbClr val="CDA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215383"/>
            <a:ext cx="384048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22A4A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142232"/>
            <a:ext cx="93268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MAGzhan сайты зерттеу нәтижелерін оқушыларға заманауи форматта ұсынуға мүмкіндік береді.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390</Words>
  <Application>Microsoft Office PowerPoint</Application>
  <PresentationFormat>Широкоэкранный</PresentationFormat>
  <Paragraphs>89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</cp:lastModifiedBy>
  <cp:revision>2</cp:revision>
  <dcterms:created xsi:type="dcterms:W3CDTF">2013-01-27T09:14:16Z</dcterms:created>
  <dcterms:modified xsi:type="dcterms:W3CDTF">2026-10-09T13:15:54Z</dcterms:modified>
  <cp:category/>
</cp:coreProperties>
</file>